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2560320" cy="2560320"/>
          </a:xfrm>
          <a:prstGeom prst="ellipse">
            <a:avLst/>
          </a:prstGeom>
          <a:solidFill>
            <a:srgbClr val="63B3E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🧠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FÉLIX HOUPHOUËT-BOIGNY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UFR IMI — Deep Learning 2025-2026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0" y="457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051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l'Âge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Intelligence Artificielle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0" y="2423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9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OpenCV DNN  ·  Modèle Caffe  ·  Django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2880360"/>
            <a:ext cx="4572000" cy="36576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3291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KOUADIO KOUASSI HIPOLITE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académique  2025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37160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347472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25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0592" y="1188720"/>
            <a:ext cx="2011680" cy="137160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1188720"/>
            <a:ext cx="2011680" cy="347472"/>
          </a:xfrm>
          <a:prstGeom prst="rect">
            <a:avLst/>
          </a:prstGeom>
          <a:solidFill>
            <a:srgbClr val="B794F4"/>
          </a:solidFill>
          <a:ln/>
        </p:spPr>
      </p:sp>
      <p:sp>
        <p:nvSpPr>
          <p:cNvPr id="10" name="Text 8"/>
          <p:cNvSpPr/>
          <p:nvPr/>
        </p:nvSpPr>
        <p:spPr>
          <a:xfrm>
            <a:off x="2450592" y="1225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42032" y="16276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Adience Benchmark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26864" y="1188720"/>
            <a:ext cx="2011680" cy="137160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188720"/>
            <a:ext cx="2011680" cy="347472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1225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18304" y="16276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CNN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03136" y="1188720"/>
            <a:ext cx="2011680" cy="137160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1188720"/>
            <a:ext cx="2011680" cy="347472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8" name="Text 16"/>
          <p:cNvSpPr/>
          <p:nvPr/>
        </p:nvSpPr>
        <p:spPr>
          <a:xfrm>
            <a:off x="6803136" y="1225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94576" y="16276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Traitement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743200"/>
            <a:ext cx="2011680" cy="137160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43200"/>
            <a:ext cx="2011680" cy="347472"/>
          </a:xfrm>
          <a:prstGeom prst="rect">
            <a:avLst/>
          </a:prstGeom>
          <a:solidFill>
            <a:srgbClr val="FC8181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1821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Django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50592" y="2743200"/>
            <a:ext cx="2011680" cy="137160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50592" y="2743200"/>
            <a:ext cx="2011680" cy="347472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26" name="Text 24"/>
          <p:cNvSpPr/>
          <p:nvPr/>
        </p:nvSpPr>
        <p:spPr>
          <a:xfrm>
            <a:off x="2450592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542032" y="31821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Analyse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26864" y="2743200"/>
            <a:ext cx="2011680" cy="137160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2743200"/>
            <a:ext cx="2011680" cy="347472"/>
          </a:xfrm>
          <a:prstGeom prst="rect">
            <a:avLst/>
          </a:prstGeom>
          <a:solidFill>
            <a:srgbClr val="B794F4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864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18304" y="31821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AgeVision AI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03136" y="2743200"/>
            <a:ext cx="2011680" cy="137160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03136" y="2743200"/>
            <a:ext cx="2011680" cy="347472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34" name="Text 32"/>
          <p:cNvSpPr/>
          <p:nvPr/>
        </p:nvSpPr>
        <p:spPr>
          <a:xfrm>
            <a:off x="6803136" y="2779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94576" y="31821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de la détection d'âge par 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8686800" cy="77724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6187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243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24358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Estimer l'âge depuis une photo de visage humain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057400"/>
            <a:ext cx="8686800" cy="77724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1305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112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11226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CNN en 8 tranches d'âge (pas régression)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8686800" cy="77724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99923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2980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98094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Django · OpenCV DNN · Caffe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794760"/>
            <a:ext cx="8686800" cy="77724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86791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38496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84962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fonctionnelle testée sur toutes catégories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Adience Benchmark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Levi &amp; Tal Hassner, Institut Weizmann, 2015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057400" cy="100584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155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26 580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6916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totales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2057400" cy="100584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11155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79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2 284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41448" y="16916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Sujets uniques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54296" y="1097280"/>
            <a:ext cx="2057400" cy="100584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54296" y="11155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54296" y="16916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 d'âge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67144" y="1097280"/>
            <a:ext cx="2057400" cy="100584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67144" y="11155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Go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67144" y="16916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dataset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286000"/>
            <a:ext cx="2057400" cy="10972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286000"/>
            <a:ext cx="2057400" cy="201168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23042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(0-2)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" y="25420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👶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28600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Bébé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41448" y="2286000"/>
            <a:ext cx="2057400" cy="10972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41448" y="2286000"/>
            <a:ext cx="2057400" cy="201168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24" name="Text 22"/>
          <p:cNvSpPr/>
          <p:nvPr/>
        </p:nvSpPr>
        <p:spPr>
          <a:xfrm>
            <a:off x="2441448" y="23042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(4-6)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41448" y="25420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441448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54296" y="2286000"/>
            <a:ext cx="2057400" cy="10972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54296" y="2286000"/>
            <a:ext cx="2057400" cy="201168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29" name="Text 27"/>
          <p:cNvSpPr/>
          <p:nvPr/>
        </p:nvSpPr>
        <p:spPr>
          <a:xfrm>
            <a:off x="4654296" y="23042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(8-12)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54296" y="25420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54296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67144" y="2286000"/>
            <a:ext cx="2057400" cy="10972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67144" y="2286000"/>
            <a:ext cx="2057400" cy="201168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34" name="Text 32"/>
          <p:cNvSpPr/>
          <p:nvPr/>
        </p:nvSpPr>
        <p:spPr>
          <a:xfrm>
            <a:off x="6867144" y="23042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(15-20)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67144" y="25420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🧑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67144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3520440"/>
            <a:ext cx="2057400" cy="10972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520440"/>
            <a:ext cx="2057400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" y="35387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(25-32)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8600" y="37764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22860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41448" y="3520440"/>
            <a:ext cx="2057400" cy="10972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41448" y="3520440"/>
            <a:ext cx="2057400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4" name="Text 42"/>
          <p:cNvSpPr/>
          <p:nvPr/>
        </p:nvSpPr>
        <p:spPr>
          <a:xfrm>
            <a:off x="2441448" y="35387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(38-43)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441448" y="37764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2441448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54296" y="3520440"/>
            <a:ext cx="2057400" cy="10972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54296" y="3520440"/>
            <a:ext cx="2057400" cy="201168"/>
          </a:xfrm>
          <a:prstGeom prst="rect">
            <a:avLst/>
          </a:prstGeom>
          <a:solidFill>
            <a:srgbClr val="FC8181"/>
          </a:solidFill>
          <a:ln/>
        </p:spPr>
      </p:sp>
      <p:sp>
        <p:nvSpPr>
          <p:cNvPr id="49" name="Text 47"/>
          <p:cNvSpPr/>
          <p:nvPr/>
        </p:nvSpPr>
        <p:spPr>
          <a:xfrm>
            <a:off x="4654296" y="35387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(48-53)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54296" y="37764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🧔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654296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 Mature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67144" y="3520440"/>
            <a:ext cx="2057400" cy="10972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67144" y="3520440"/>
            <a:ext cx="2057400" cy="201168"/>
          </a:xfrm>
          <a:prstGeom prst="rect">
            <a:avLst/>
          </a:prstGeom>
          <a:solidFill>
            <a:srgbClr val="B794F4"/>
          </a:solidFill>
          <a:ln/>
        </p:spPr>
      </p:sp>
      <p:sp>
        <p:nvSpPr>
          <p:cNvPr id="54" name="Text 52"/>
          <p:cNvSpPr/>
          <p:nvPr/>
        </p:nvSpPr>
        <p:spPr>
          <a:xfrm>
            <a:off x="6867144" y="35387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(60-100)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67144" y="37764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👴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867144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CNN — Age 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couches de convolution + 512 neurones FC (Caffe pré-entraîné)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8686800" cy="56692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128016" cy="566928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97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53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252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filtres 7×7, stride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252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traits bas niveau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783080"/>
            <a:ext cx="8686800" cy="56692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783080"/>
            <a:ext cx="128016" cy="566928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37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093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1892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3×3, stride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892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dimensionnelle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423160"/>
            <a:ext cx="8686800" cy="56692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423160"/>
            <a:ext cx="128016" cy="566928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4780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7340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2532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filtres 5×5, padding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532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motifs intermédiaires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063240"/>
            <a:ext cx="8686800" cy="56692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063240"/>
            <a:ext cx="128016" cy="566928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118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374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00200" y="3172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filtres 3×3, padding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motifs complexes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703320"/>
            <a:ext cx="8686800" cy="56692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703320"/>
            <a:ext cx="128016" cy="566928"/>
          </a:xfrm>
          <a:prstGeom prst="rect">
            <a:avLst/>
          </a:prstGeom>
          <a:solidFill>
            <a:srgbClr val="B794F4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58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9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fc6+fc7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014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00200" y="3813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neurones, ReLU + Dropout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8130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haut niveau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4343400"/>
            <a:ext cx="8686800" cy="56692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4343400"/>
            <a:ext cx="128016" cy="566928"/>
          </a:xfrm>
          <a:prstGeom prst="rect">
            <a:avLst/>
          </a:prstGeom>
          <a:solidFill>
            <a:srgbClr val="68D391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3982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fc8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6542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00200" y="4453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sorties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453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8 tranches d'âge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Traitement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modèles Caffe + algorithmes de correction originaux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960120" cy="219456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234440"/>
            <a:ext cx="621792" cy="621792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1920240"/>
            <a:ext cx="905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16736" y="1143000"/>
            <a:ext cx="960120" cy="219456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81328" y="1234440"/>
            <a:ext cx="621792" cy="621792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11" name="Text 9"/>
          <p:cNvSpPr/>
          <p:nvPr/>
        </p:nvSpPr>
        <p:spPr>
          <a:xfrm>
            <a:off x="1481328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44168" y="1920240"/>
            <a:ext cx="905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04872" y="1143000"/>
            <a:ext cx="960120" cy="219456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9464" y="1234440"/>
            <a:ext cx="621792" cy="621792"/>
          </a:xfrm>
          <a:prstGeom prst="ellipse">
            <a:avLst/>
          </a:prstGeom>
          <a:solidFill>
            <a:srgbClr val="B794F4"/>
          </a:solidFill>
          <a:ln/>
        </p:spPr>
      </p:sp>
      <p:sp>
        <p:nvSpPr>
          <p:cNvPr id="15" name="Text 13"/>
          <p:cNvSpPr/>
          <p:nvPr/>
        </p:nvSpPr>
        <p:spPr>
          <a:xfrm>
            <a:off x="2569464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32304" y="1920240"/>
            <a:ext cx="905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93008" y="1143000"/>
            <a:ext cx="960120" cy="219456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0" y="1234440"/>
            <a:ext cx="621792" cy="621792"/>
          </a:xfrm>
          <a:prstGeom prst="ellipse">
            <a:avLst/>
          </a:prstGeom>
          <a:solidFill>
            <a:srgbClr val="B794F4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1920240"/>
            <a:ext cx="905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Pondérée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81144" y="1143000"/>
            <a:ext cx="960120" cy="219456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45736" y="1234440"/>
            <a:ext cx="621792" cy="621792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23" name="Text 21"/>
          <p:cNvSpPr/>
          <p:nvPr/>
        </p:nvSpPr>
        <p:spPr>
          <a:xfrm>
            <a:off x="4745736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08576" y="1920240"/>
            <a:ext cx="905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Bébé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143000"/>
            <a:ext cx="960120" cy="219456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33872" y="1234440"/>
            <a:ext cx="621792" cy="621792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27" name="Text 25"/>
          <p:cNvSpPr/>
          <p:nvPr/>
        </p:nvSpPr>
        <p:spPr>
          <a:xfrm>
            <a:off x="5833872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96712" y="1920240"/>
            <a:ext cx="905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57416" y="1143000"/>
            <a:ext cx="960120" cy="219456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22008" y="1234440"/>
            <a:ext cx="621792" cy="621792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31" name="Text 29"/>
          <p:cNvSpPr/>
          <p:nvPr/>
        </p:nvSpPr>
        <p:spPr>
          <a:xfrm>
            <a:off x="6922008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84848" y="1920240"/>
            <a:ext cx="905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45552" y="1143000"/>
            <a:ext cx="960120" cy="219456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10144" y="1234440"/>
            <a:ext cx="621792" cy="621792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35" name="Text 33"/>
          <p:cNvSpPr/>
          <p:nvPr/>
        </p:nvSpPr>
        <p:spPr>
          <a:xfrm>
            <a:off x="8010144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872984" y="1920240"/>
            <a:ext cx="905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Innovations 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" y="38221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9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pondérée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argmax)  ·  </a:t>
            </a:r>
            <a:pPr indent="0" marL="0">
              <a:buNone/>
            </a:pPr>
            <a:r>
              <a:rPr lang="en-US" sz="11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Détecteur bébé morphologique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critères)  ·  </a:t>
            </a:r>
            <a:pPr indent="0" marL="0">
              <a:buNone/>
            </a:pPr>
            <a:r>
              <a:rPr lang="en-US" sz="11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vieillissement cutané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(Laplacien + LBP + Canny)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Analyse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sur 6 catégories d'âge — Précision globale satisfaisante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43000"/>
          <a:ext cx="8686800" cy="374904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1645920"/>
                <a:gridCol w="192024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obtenu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Âge estimé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Fiabilité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👶 Bébé (7-9 mois)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Bébé (0-2)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🧒 Enfant (6-8 ans)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Enfant (4-6 ou 8-12)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🧑 Adolescent (15-17 ans)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Adolescent (15-20)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 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👨 Adulte (30-35 ans)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Adulte (25-32)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🧔 Adulte mature (48-52)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Adulte Mature (48-53)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👴 Senior (65+ ans)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Senior (60-100)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~68 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Performances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 &amp; limites du système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1078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Points forts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44752"/>
            <a:ext cx="420624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499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multi-visages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92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simultanée de plusieurs visages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286000"/>
            <a:ext cx="420624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395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bébé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is_baby_face() : 4 critères morphologiques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127248"/>
            <a:ext cx="420624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236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senior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aging (Laplacien + LBP + Canny)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968496"/>
            <a:ext cx="420624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40782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Rapidité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315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secondes par image sur MacBook Air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1078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444752"/>
            <a:ext cx="420624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1499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de côté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1792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bien détectés que visages de face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286000"/>
            <a:ext cx="420624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2395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0" y="2340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luminosité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simuler peau lisse → sous-estimation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127248"/>
            <a:ext cx="420624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3236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💄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Maquillage intense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texture → biais vers le jeune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968496"/>
            <a:ext cx="420624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40782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🎚️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Âges extrêmes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4315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48-53 / 60+ parfois ambiguë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 dans le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057400" cy="13258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1234440"/>
            <a:ext cx="621792" cy="621792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929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143000"/>
            <a:ext cx="2057400" cy="13258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34440"/>
            <a:ext cx="621792" cy="621792"/>
          </a:xfrm>
          <a:prstGeom prst="ellipse">
            <a:avLst/>
          </a:prstGeom>
          <a:solidFill>
            <a:srgbClr val="B794F4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32888" y="1929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32888" y="2194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54296" y="1143000"/>
            <a:ext cx="2057400" cy="13258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67528" y="1234440"/>
            <a:ext cx="621792" cy="621792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17" name="Text 15"/>
          <p:cNvSpPr/>
          <p:nvPr/>
        </p:nvSpPr>
        <p:spPr>
          <a:xfrm>
            <a:off x="5367528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45736" y="1929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4.12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45736" y="2194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par ordinateur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67144" y="1143000"/>
            <a:ext cx="2057400" cy="13258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0376" y="1234440"/>
            <a:ext cx="621792" cy="621792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22" name="Text 20"/>
          <p:cNvSpPr/>
          <p:nvPr/>
        </p:nvSpPr>
        <p:spPr>
          <a:xfrm>
            <a:off x="7580376" y="12344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58584" y="19293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2.2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58584" y="21945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numérique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651760"/>
            <a:ext cx="2057400" cy="13258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1832" y="2743200"/>
            <a:ext cx="621792" cy="621792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27" name="Text 25"/>
          <p:cNvSpPr/>
          <p:nvPr/>
        </p:nvSpPr>
        <p:spPr>
          <a:xfrm>
            <a:off x="941832" y="27432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0040" y="34381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 DNN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703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pré-entraînés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41448" y="2651760"/>
            <a:ext cx="2057400" cy="13258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743200"/>
            <a:ext cx="621792" cy="621792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32" name="Text 30"/>
          <p:cNvSpPr/>
          <p:nvPr/>
        </p:nvSpPr>
        <p:spPr>
          <a:xfrm>
            <a:off x="3154680" y="27432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532888" y="34381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Lab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32888" y="3703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54296" y="2651760"/>
            <a:ext cx="2057400" cy="13258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67528" y="2743200"/>
            <a:ext cx="621792" cy="621792"/>
          </a:xfrm>
          <a:prstGeom prst="ellipse">
            <a:avLst/>
          </a:prstGeom>
          <a:solidFill>
            <a:srgbClr val="B794F4"/>
          </a:solidFill>
          <a:ln/>
        </p:spPr>
      </p:sp>
      <p:sp>
        <p:nvSpPr>
          <p:cNvPr id="37" name="Text 35"/>
          <p:cNvSpPr/>
          <p:nvPr/>
        </p:nvSpPr>
        <p:spPr>
          <a:xfrm>
            <a:off x="5367528" y="27432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745736" y="34381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45736" y="3703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Versionnement code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67144" y="2651760"/>
            <a:ext cx="2057400" cy="13258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80376" y="2743200"/>
            <a:ext cx="621792" cy="621792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42" name="Text 40"/>
          <p:cNvSpPr/>
          <p:nvPr/>
        </p:nvSpPr>
        <p:spPr>
          <a:xfrm>
            <a:off x="7580376" y="27432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958584" y="34381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58584" y="3703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isolé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Vérification Cahier des Charges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exigences respectées à 100%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5196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8328" y="1335024"/>
            <a:ext cx="457200" cy="457200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35331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pour reconnaître l'âge depuis une photo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1728" y="1188720"/>
            <a:ext cx="425196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91456" y="1335024"/>
            <a:ext cx="457200" cy="457200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11" name="Text 9"/>
          <p:cNvSpPr/>
          <p:nvPr/>
        </p:nvSpPr>
        <p:spPr>
          <a:xfrm>
            <a:off x="4791456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0096" y="135331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de classification (8 tranches, pas régression)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057400"/>
            <a:ext cx="425196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" y="2203704"/>
            <a:ext cx="457200" cy="457200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" y="222199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Adience 25 000+ images utilisé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1728" y="2057400"/>
            <a:ext cx="425196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91456" y="2203704"/>
            <a:ext cx="457200" cy="457200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0096" y="222199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: 3 couches de convolution + 512 FC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425196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" y="3072384"/>
            <a:ext cx="457200" cy="457200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6968" y="309067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du visage + rectangle dessiné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81728" y="2926080"/>
            <a:ext cx="425196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3072384"/>
            <a:ext cx="457200" cy="457200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0096" y="309067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affiché en haut de la boîte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794760"/>
            <a:ext cx="425196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8328" y="3941064"/>
            <a:ext cx="457200" cy="457200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6968" y="395935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web (Django)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81728" y="3794760"/>
            <a:ext cx="4251960" cy="749808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91456" y="3941064"/>
            <a:ext cx="457200" cy="457200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0096" y="3959352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sur images aléatoires de visages humains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— AgeVision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dark mode · Drag &amp; Drop · Prévisualisation · Loading animé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057400" cy="20116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070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intuitif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+ clic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Prévisualisation instantanée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143000"/>
            <a:ext cx="2057400" cy="20116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41448" y="12070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32888" y="1874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32888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animé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en &lt; 2 secondes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1143000"/>
            <a:ext cx="2057400" cy="20116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12070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45736" y="1874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riches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45736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estimé + tranche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vieillissement cutané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67144" y="1143000"/>
            <a:ext cx="2057400" cy="20116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67144" y="12070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58584" y="18745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moderne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58584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grille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Space Grotesk + Syne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32918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9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détectées : 👶 Bébé  ·  🧒 Enfant  ·  🧑 Adolescent  ·  👨 Adulte  ·  🧔 Adulte Mature  ·  👴 Senior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3749040"/>
            <a:ext cx="8686800" cy="1097280"/>
          </a:xfrm>
          <a:prstGeom prst="rect">
            <a:avLst/>
          </a:prstGeom>
          <a:solidFill>
            <a:srgbClr val="141D2E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8862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http://127.0.0.1:8000  —  Application locale Django  —  Upload JPG/PNG  →  Analyse IA  →  Résultat annoté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" y="1188720"/>
            <a:ext cx="2057400" cy="2286000"/>
          </a:xfrm>
          <a:prstGeom prst="rect">
            <a:avLst/>
          </a:prstGeom>
          <a:solidFill>
            <a:srgbClr val="080B14">
              <a:alpha val="80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12618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complet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exigences du cahier des charges respectées à 100%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1188720"/>
            <a:ext cx="2057400" cy="2286000"/>
          </a:xfrm>
          <a:prstGeom prst="rect">
            <a:avLst/>
          </a:prstGeom>
          <a:solidFill>
            <a:srgbClr val="080B14">
              <a:alpha val="80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12618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32888" y="1920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fonctionnelle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32888" y="2331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CNN + corrections originales (bébé + aging score)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54296" y="1188720"/>
            <a:ext cx="2057400" cy="2286000"/>
          </a:xfrm>
          <a:prstGeom prst="rect">
            <a:avLst/>
          </a:prstGeom>
          <a:solidFill>
            <a:srgbClr val="080B14">
              <a:alpha val="80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54296" y="12618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45736" y="1920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45736" y="2331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AgeVision AI — Django, design moderne, drag &amp; drop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67144" y="1188720"/>
            <a:ext cx="2057400" cy="2286000"/>
          </a:xfrm>
          <a:prstGeom prst="rect">
            <a:avLst/>
          </a:prstGeom>
          <a:solidFill>
            <a:srgbClr val="080B14">
              <a:alpha val="80000"/>
            </a:srgbClr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67144" y="126187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58584" y="1920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58584" y="23317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~70-78% sur les 5 catégories principales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657600"/>
            <a:ext cx="8686800" cy="502920"/>
          </a:xfrm>
          <a:prstGeom prst="rect">
            <a:avLst/>
          </a:prstGeom>
          <a:solidFill>
            <a:srgbClr val="141D2E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36758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9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Webcam temps réel  ·  MobileNetV3  ·  Fine-tuning  ·  API REST  ·  Dashboard historique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3708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KOUADIO KOUASSI HIPOLITE  —  Deep Learning 2025-2026  —  Université Félix Houphouët-Boigny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10 — Détection d'Âge par IA</dc:title>
  <dc:subject>PptxGenJS Presentation</dc:subject>
  <dc:creator>KOUADIO KOUASSI HIPOLITE</dc:creator>
  <cp:lastModifiedBy>KOUADIO KOUASSI HIPOLITE</cp:lastModifiedBy>
  <cp:revision>1</cp:revision>
  <dcterms:created xsi:type="dcterms:W3CDTF">2026-04-28T00:28:00Z</dcterms:created>
  <dcterms:modified xsi:type="dcterms:W3CDTF">2026-04-28T00:28:00Z</dcterms:modified>
</cp:coreProperties>
</file>